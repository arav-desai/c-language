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FA143A-0144-4EB5-9588-8056C7BE429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google.com/store/apps/details?id=com.saiankit.cgpacalculator" TargetMode="External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google.com/store/apps/details?id=com.saiankit.cgpacalculator" TargetMode="External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2EE102-73FE-4CDB-BF43-14A3F0C25E92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A9142E-E2CB-4338-9262-2117B37CB985}">
      <dgm:prSet/>
      <dgm:spPr/>
      <dgm:t>
        <a:bodyPr/>
        <a:lstStyle/>
        <a:p>
          <a:r>
            <a:rPr lang="en-US" dirty="0"/>
            <a:t>semester wise CGPA</a:t>
          </a:r>
        </a:p>
      </dgm:t>
    </dgm:pt>
    <dgm:pt modelId="{2572AFF8-FB52-4872-AD72-CC39EE99AAE2}" type="parTrans" cxnId="{3FCF4BC7-951D-4C11-9F75-53144703A488}">
      <dgm:prSet/>
      <dgm:spPr/>
      <dgm:t>
        <a:bodyPr/>
        <a:lstStyle/>
        <a:p>
          <a:endParaRPr lang="en-US"/>
        </a:p>
      </dgm:t>
    </dgm:pt>
    <dgm:pt modelId="{D89F3F40-143A-4D82-AA1F-0F3E7DF80EB0}" type="sibTrans" cxnId="{3FCF4BC7-951D-4C11-9F75-53144703A488}">
      <dgm:prSet/>
      <dgm:spPr/>
      <dgm:t>
        <a:bodyPr/>
        <a:lstStyle/>
        <a:p>
          <a:endParaRPr lang="en-US"/>
        </a:p>
      </dgm:t>
    </dgm:pt>
    <dgm:pt modelId="{78FF4028-D571-4875-B489-CC3262E5D2D6}">
      <dgm:prSet/>
      <dgm:spPr/>
      <dgm:t>
        <a:bodyPr/>
        <a:lstStyle/>
        <a:p>
          <a:r>
            <a:rPr lang="en-US" dirty="0"/>
            <a:t>Grade &amp; credit wise CGPA</a:t>
          </a:r>
        </a:p>
      </dgm:t>
    </dgm:pt>
    <dgm:pt modelId="{FA093A26-2ABF-4AAB-9394-8DBE2B704D73}" type="parTrans" cxnId="{62C02F11-4DAF-4F58-8F5E-303393C3E2D2}">
      <dgm:prSet/>
      <dgm:spPr/>
      <dgm:t>
        <a:bodyPr/>
        <a:lstStyle/>
        <a:p>
          <a:endParaRPr lang="en-US"/>
        </a:p>
      </dgm:t>
    </dgm:pt>
    <dgm:pt modelId="{0DDB3310-4497-4286-ACF1-037C017F73DF}" type="sibTrans" cxnId="{62C02F11-4DAF-4F58-8F5E-303393C3E2D2}">
      <dgm:prSet/>
      <dgm:spPr/>
      <dgm:t>
        <a:bodyPr/>
        <a:lstStyle/>
        <a:p>
          <a:endParaRPr lang="en-US"/>
        </a:p>
      </dgm:t>
    </dgm:pt>
    <dgm:pt modelId="{46846190-C10E-4F68-B045-3E9406AEB989}">
      <dgm:prSet/>
      <dgm:spPr/>
      <dgm:t>
        <a:bodyPr/>
        <a:lstStyle/>
        <a:p>
          <a:r>
            <a:rPr lang="en-US" dirty="0"/>
            <a:t>Subject wise CGPA</a:t>
          </a:r>
        </a:p>
      </dgm:t>
    </dgm:pt>
    <dgm:pt modelId="{5B646CB8-402C-416E-98DC-533531550897}" type="sibTrans" cxnId="{B569ED93-339D-4305-A8DF-3D7C20B1565B}">
      <dgm:prSet/>
      <dgm:spPr/>
      <dgm:t>
        <a:bodyPr/>
        <a:lstStyle/>
        <a:p>
          <a:endParaRPr lang="en-US"/>
        </a:p>
      </dgm:t>
    </dgm:pt>
    <dgm:pt modelId="{8D5B556D-43CC-4516-BFFE-62536B18B56A}" type="parTrans" cxnId="{B569ED93-339D-4305-A8DF-3D7C20B1565B}">
      <dgm:prSet/>
      <dgm:spPr/>
      <dgm:t>
        <a:bodyPr/>
        <a:lstStyle/>
        <a:p>
          <a:endParaRPr lang="en-US"/>
        </a:p>
      </dgm:t>
    </dgm:pt>
    <dgm:pt modelId="{3FF82CFE-3A49-44CC-875E-43652DFD6991}" type="pres">
      <dgm:prSet presAssocID="{282EE102-73FE-4CDB-BF43-14A3F0C25E92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6F5CD1E7-E394-4943-85E5-DF494026E164}" type="pres">
      <dgm:prSet presAssocID="{282EE102-73FE-4CDB-BF43-14A3F0C25E92}" presName="cycle" presStyleCnt="0"/>
      <dgm:spPr/>
    </dgm:pt>
    <dgm:pt modelId="{A20B180B-5703-41E1-B26E-7FE970448793}" type="pres">
      <dgm:prSet presAssocID="{282EE102-73FE-4CDB-BF43-14A3F0C25E92}" presName="centerShape" presStyleCnt="0"/>
      <dgm:spPr/>
    </dgm:pt>
    <dgm:pt modelId="{ED3EBE40-2507-44EC-8504-2178D8CD0E50}" type="pres">
      <dgm:prSet presAssocID="{282EE102-73FE-4CDB-BF43-14A3F0C25E92}" presName="connSite" presStyleLbl="node1" presStyleIdx="0" presStyleCnt="4"/>
      <dgm:spPr/>
    </dgm:pt>
    <dgm:pt modelId="{292B4D27-7C96-49B9-80C0-7C0B88C31432}" type="pres">
      <dgm:prSet presAssocID="{282EE102-73FE-4CDB-BF43-14A3F0C25E92}" presName="visible" presStyleLbl="node1" presStyleIdx="0" presStyleCnt="4" custLinFactNeighborX="2615" custLinFactNeighborY="100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4F888DB6-8F2E-4A98-AD4E-378166807538}" type="pres">
      <dgm:prSet presAssocID="{8D5B556D-43CC-4516-BFFE-62536B18B56A}" presName="Name25" presStyleLbl="parChTrans1D1" presStyleIdx="0" presStyleCnt="3"/>
      <dgm:spPr/>
    </dgm:pt>
    <dgm:pt modelId="{0BB8DCE6-B404-446C-973E-5BF0BB06621B}" type="pres">
      <dgm:prSet presAssocID="{46846190-C10E-4F68-B045-3E9406AEB989}" presName="node" presStyleCnt="0"/>
      <dgm:spPr/>
    </dgm:pt>
    <dgm:pt modelId="{6CE2A49D-2E19-4C89-BC43-4C5C5BF958A4}" type="pres">
      <dgm:prSet presAssocID="{46846190-C10E-4F68-B045-3E9406AEB989}" presName="parentNode" presStyleLbl="node1" presStyleIdx="1" presStyleCnt="4" custScaleX="179419" custScaleY="172160" custLinFactNeighborX="-34267" custLinFactNeighborY="-88559">
        <dgm:presLayoutVars>
          <dgm:chMax val="1"/>
          <dgm:bulletEnabled val="1"/>
        </dgm:presLayoutVars>
      </dgm:prSet>
      <dgm:spPr/>
    </dgm:pt>
    <dgm:pt modelId="{4C5FD925-D137-4B13-8C07-AEA26F25177A}" type="pres">
      <dgm:prSet presAssocID="{46846190-C10E-4F68-B045-3E9406AEB989}" presName="childNode" presStyleLbl="revTx" presStyleIdx="0" presStyleCnt="0">
        <dgm:presLayoutVars>
          <dgm:bulletEnabled val="1"/>
        </dgm:presLayoutVars>
      </dgm:prSet>
      <dgm:spPr/>
    </dgm:pt>
    <dgm:pt modelId="{AF093037-1C70-4C04-AA19-BC5C00453D51}" type="pres">
      <dgm:prSet presAssocID="{2572AFF8-FB52-4872-AD72-CC39EE99AAE2}" presName="Name25" presStyleLbl="parChTrans1D1" presStyleIdx="1" presStyleCnt="3"/>
      <dgm:spPr/>
    </dgm:pt>
    <dgm:pt modelId="{79D83175-EB5D-4CEF-932A-10AB44CC398C}" type="pres">
      <dgm:prSet presAssocID="{0AA9142E-E2CB-4338-9262-2117B37CB985}" presName="node" presStyleCnt="0"/>
      <dgm:spPr/>
    </dgm:pt>
    <dgm:pt modelId="{8655A3EC-83AD-473F-B20D-6153CFAA7609}" type="pres">
      <dgm:prSet presAssocID="{0AA9142E-E2CB-4338-9262-2117B37CB985}" presName="parentNode" presStyleLbl="node1" presStyleIdx="2" presStyleCnt="4" custScaleX="215843" custScaleY="185037" custLinFactX="50780" custLinFactNeighborX="100000" custLinFactNeighborY="3997">
        <dgm:presLayoutVars>
          <dgm:chMax val="1"/>
          <dgm:bulletEnabled val="1"/>
        </dgm:presLayoutVars>
      </dgm:prSet>
      <dgm:spPr/>
    </dgm:pt>
    <dgm:pt modelId="{F0FDEC27-5CB7-41EF-B3E9-19CD798C54AD}" type="pres">
      <dgm:prSet presAssocID="{0AA9142E-E2CB-4338-9262-2117B37CB985}" presName="childNode" presStyleLbl="revTx" presStyleIdx="0" presStyleCnt="0">
        <dgm:presLayoutVars>
          <dgm:bulletEnabled val="1"/>
        </dgm:presLayoutVars>
      </dgm:prSet>
      <dgm:spPr/>
    </dgm:pt>
    <dgm:pt modelId="{004F0013-6E5E-4CB1-BA4D-B0B59D69FED4}" type="pres">
      <dgm:prSet presAssocID="{FA093A26-2ABF-4AAB-9394-8DBE2B704D73}" presName="Name25" presStyleLbl="parChTrans1D1" presStyleIdx="2" presStyleCnt="3"/>
      <dgm:spPr/>
    </dgm:pt>
    <dgm:pt modelId="{42821C6F-DE40-4599-896C-961AF7F93766}" type="pres">
      <dgm:prSet presAssocID="{78FF4028-D571-4875-B489-CC3262E5D2D6}" presName="node" presStyleCnt="0"/>
      <dgm:spPr/>
    </dgm:pt>
    <dgm:pt modelId="{1F9674E6-F67E-4E57-AF0B-48997AA7254F}" type="pres">
      <dgm:prSet presAssocID="{78FF4028-D571-4875-B489-CC3262E5D2D6}" presName="parentNode" presStyleLbl="node1" presStyleIdx="3" presStyleCnt="4" custScaleX="168883" custScaleY="188147" custLinFactY="32009" custLinFactNeighborX="-25129" custLinFactNeighborY="100000">
        <dgm:presLayoutVars>
          <dgm:chMax val="1"/>
          <dgm:bulletEnabled val="1"/>
        </dgm:presLayoutVars>
      </dgm:prSet>
      <dgm:spPr/>
    </dgm:pt>
    <dgm:pt modelId="{3FBA18D6-8544-4C25-ACE1-53A0BBDFB9A0}" type="pres">
      <dgm:prSet presAssocID="{78FF4028-D571-4875-B489-CC3262E5D2D6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2C02F11-4DAF-4F58-8F5E-303393C3E2D2}" srcId="{282EE102-73FE-4CDB-BF43-14A3F0C25E92}" destId="{78FF4028-D571-4875-B489-CC3262E5D2D6}" srcOrd="2" destOrd="0" parTransId="{FA093A26-2ABF-4AAB-9394-8DBE2B704D73}" sibTransId="{0DDB3310-4497-4286-ACF1-037C017F73DF}"/>
    <dgm:cxn modelId="{1991B545-7A32-4FAF-A140-C22073ADD2DF}" type="presOf" srcId="{78FF4028-D571-4875-B489-CC3262E5D2D6}" destId="{1F9674E6-F67E-4E57-AF0B-48997AA7254F}" srcOrd="0" destOrd="0" presId="urn:microsoft.com/office/officeart/2005/8/layout/radial2"/>
    <dgm:cxn modelId="{C0244F47-61DB-4F88-8C88-3830F96AFAC4}" type="presOf" srcId="{FA093A26-2ABF-4AAB-9394-8DBE2B704D73}" destId="{004F0013-6E5E-4CB1-BA4D-B0B59D69FED4}" srcOrd="0" destOrd="0" presId="urn:microsoft.com/office/officeart/2005/8/layout/radial2"/>
    <dgm:cxn modelId="{095A564D-E94F-4B1E-A2E7-925F7F76E998}" type="presOf" srcId="{0AA9142E-E2CB-4338-9262-2117B37CB985}" destId="{8655A3EC-83AD-473F-B20D-6153CFAA7609}" srcOrd="0" destOrd="0" presId="urn:microsoft.com/office/officeart/2005/8/layout/radial2"/>
    <dgm:cxn modelId="{F825C058-E915-4885-A2C1-76DC5C879D4E}" type="presOf" srcId="{46846190-C10E-4F68-B045-3E9406AEB989}" destId="{6CE2A49D-2E19-4C89-BC43-4C5C5BF958A4}" srcOrd="0" destOrd="0" presId="urn:microsoft.com/office/officeart/2005/8/layout/radial2"/>
    <dgm:cxn modelId="{B569ED93-339D-4305-A8DF-3D7C20B1565B}" srcId="{282EE102-73FE-4CDB-BF43-14A3F0C25E92}" destId="{46846190-C10E-4F68-B045-3E9406AEB989}" srcOrd="0" destOrd="0" parTransId="{8D5B556D-43CC-4516-BFFE-62536B18B56A}" sibTransId="{5B646CB8-402C-416E-98DC-533531550897}"/>
    <dgm:cxn modelId="{F0139D95-FD3B-444D-B5A0-60A165EC718B}" type="presOf" srcId="{282EE102-73FE-4CDB-BF43-14A3F0C25E92}" destId="{3FF82CFE-3A49-44CC-875E-43652DFD6991}" srcOrd="0" destOrd="0" presId="urn:microsoft.com/office/officeart/2005/8/layout/radial2"/>
    <dgm:cxn modelId="{CA9DABB8-3A01-49EC-A427-3800528C24F1}" type="presOf" srcId="{8D5B556D-43CC-4516-BFFE-62536B18B56A}" destId="{4F888DB6-8F2E-4A98-AD4E-378166807538}" srcOrd="0" destOrd="0" presId="urn:microsoft.com/office/officeart/2005/8/layout/radial2"/>
    <dgm:cxn modelId="{3FCF4BC7-951D-4C11-9F75-53144703A488}" srcId="{282EE102-73FE-4CDB-BF43-14A3F0C25E92}" destId="{0AA9142E-E2CB-4338-9262-2117B37CB985}" srcOrd="1" destOrd="0" parTransId="{2572AFF8-FB52-4872-AD72-CC39EE99AAE2}" sibTransId="{D89F3F40-143A-4D82-AA1F-0F3E7DF80EB0}"/>
    <dgm:cxn modelId="{180D47F8-C161-45C2-949D-0C1CFCB0C094}" type="presOf" srcId="{2572AFF8-FB52-4872-AD72-CC39EE99AAE2}" destId="{AF093037-1C70-4C04-AA19-BC5C00453D51}" srcOrd="0" destOrd="0" presId="urn:microsoft.com/office/officeart/2005/8/layout/radial2"/>
    <dgm:cxn modelId="{90A46711-0BD1-4AAD-A7E6-C181F5879735}" type="presParOf" srcId="{3FF82CFE-3A49-44CC-875E-43652DFD6991}" destId="{6F5CD1E7-E394-4943-85E5-DF494026E164}" srcOrd="0" destOrd="0" presId="urn:microsoft.com/office/officeart/2005/8/layout/radial2"/>
    <dgm:cxn modelId="{7FE1EDA0-CD2E-4E18-8579-2F22F8FDFE08}" type="presParOf" srcId="{6F5CD1E7-E394-4943-85E5-DF494026E164}" destId="{A20B180B-5703-41E1-B26E-7FE970448793}" srcOrd="0" destOrd="0" presId="urn:microsoft.com/office/officeart/2005/8/layout/radial2"/>
    <dgm:cxn modelId="{F7171BE5-BA8B-43A6-AA69-CA27AE8ADD0A}" type="presParOf" srcId="{A20B180B-5703-41E1-B26E-7FE970448793}" destId="{ED3EBE40-2507-44EC-8504-2178D8CD0E50}" srcOrd="0" destOrd="0" presId="urn:microsoft.com/office/officeart/2005/8/layout/radial2"/>
    <dgm:cxn modelId="{80E45642-D01E-4080-B72D-418D83C8FC30}" type="presParOf" srcId="{A20B180B-5703-41E1-B26E-7FE970448793}" destId="{292B4D27-7C96-49B9-80C0-7C0B88C31432}" srcOrd="1" destOrd="0" presId="urn:microsoft.com/office/officeart/2005/8/layout/radial2"/>
    <dgm:cxn modelId="{C7BB9020-6648-449A-B3D0-A8B7ACBC73D1}" type="presParOf" srcId="{6F5CD1E7-E394-4943-85E5-DF494026E164}" destId="{4F888DB6-8F2E-4A98-AD4E-378166807538}" srcOrd="1" destOrd="0" presId="urn:microsoft.com/office/officeart/2005/8/layout/radial2"/>
    <dgm:cxn modelId="{EFE6340D-0A28-45C1-9D49-15F0DD3889E3}" type="presParOf" srcId="{6F5CD1E7-E394-4943-85E5-DF494026E164}" destId="{0BB8DCE6-B404-446C-973E-5BF0BB06621B}" srcOrd="2" destOrd="0" presId="urn:microsoft.com/office/officeart/2005/8/layout/radial2"/>
    <dgm:cxn modelId="{079F0F78-046E-42C8-B230-726417316100}" type="presParOf" srcId="{0BB8DCE6-B404-446C-973E-5BF0BB06621B}" destId="{6CE2A49D-2E19-4C89-BC43-4C5C5BF958A4}" srcOrd="0" destOrd="0" presId="urn:microsoft.com/office/officeart/2005/8/layout/radial2"/>
    <dgm:cxn modelId="{5BB85BF4-1FD5-4D52-855A-392CFC7D90FF}" type="presParOf" srcId="{0BB8DCE6-B404-446C-973E-5BF0BB06621B}" destId="{4C5FD925-D137-4B13-8C07-AEA26F25177A}" srcOrd="1" destOrd="0" presId="urn:microsoft.com/office/officeart/2005/8/layout/radial2"/>
    <dgm:cxn modelId="{C6462DCE-7848-4880-AADD-02E60A9B5EB4}" type="presParOf" srcId="{6F5CD1E7-E394-4943-85E5-DF494026E164}" destId="{AF093037-1C70-4C04-AA19-BC5C00453D51}" srcOrd="3" destOrd="0" presId="urn:microsoft.com/office/officeart/2005/8/layout/radial2"/>
    <dgm:cxn modelId="{BF29CA34-836A-4E27-B80C-F53DFF2D58CC}" type="presParOf" srcId="{6F5CD1E7-E394-4943-85E5-DF494026E164}" destId="{79D83175-EB5D-4CEF-932A-10AB44CC398C}" srcOrd="4" destOrd="0" presId="urn:microsoft.com/office/officeart/2005/8/layout/radial2"/>
    <dgm:cxn modelId="{FF4BF79C-D9F6-4D6C-91F2-0973970D0652}" type="presParOf" srcId="{79D83175-EB5D-4CEF-932A-10AB44CC398C}" destId="{8655A3EC-83AD-473F-B20D-6153CFAA7609}" srcOrd="0" destOrd="0" presId="urn:microsoft.com/office/officeart/2005/8/layout/radial2"/>
    <dgm:cxn modelId="{F3803A1D-A287-4A19-AD58-01F246122FB7}" type="presParOf" srcId="{79D83175-EB5D-4CEF-932A-10AB44CC398C}" destId="{F0FDEC27-5CB7-41EF-B3E9-19CD798C54AD}" srcOrd="1" destOrd="0" presId="urn:microsoft.com/office/officeart/2005/8/layout/radial2"/>
    <dgm:cxn modelId="{1D43623C-6F12-4D3A-9830-AF6F6F0B19C8}" type="presParOf" srcId="{6F5CD1E7-E394-4943-85E5-DF494026E164}" destId="{004F0013-6E5E-4CB1-BA4D-B0B59D69FED4}" srcOrd="5" destOrd="0" presId="urn:microsoft.com/office/officeart/2005/8/layout/radial2"/>
    <dgm:cxn modelId="{D7EE6305-B34F-44B3-AAB1-30F8B88EEC4A}" type="presParOf" srcId="{6F5CD1E7-E394-4943-85E5-DF494026E164}" destId="{42821C6F-DE40-4599-896C-961AF7F93766}" srcOrd="6" destOrd="0" presId="urn:microsoft.com/office/officeart/2005/8/layout/radial2"/>
    <dgm:cxn modelId="{A582DFC3-5769-44DE-B5BD-F5CAFD50BA94}" type="presParOf" srcId="{42821C6F-DE40-4599-896C-961AF7F93766}" destId="{1F9674E6-F67E-4E57-AF0B-48997AA7254F}" srcOrd="0" destOrd="0" presId="urn:microsoft.com/office/officeart/2005/8/layout/radial2"/>
    <dgm:cxn modelId="{3EA6EA14-098C-46DC-8F69-5BCB8E2361D9}" type="presParOf" srcId="{42821C6F-DE40-4599-896C-961AF7F93766}" destId="{3FBA18D6-8544-4C25-ACE1-53A0BBDFB9A0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F0013-6E5E-4CB1-BA4D-B0B59D69FED4}">
      <dsp:nvSpPr>
        <dsp:cNvPr id="0" name=""/>
        <dsp:cNvSpPr/>
      </dsp:nvSpPr>
      <dsp:spPr>
        <a:xfrm rot="4064045">
          <a:off x="387837" y="4455331"/>
          <a:ext cx="1114093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1114093" y="339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93037-1C70-4C04-AA19-BC5C00453D51}">
      <dsp:nvSpPr>
        <dsp:cNvPr id="0" name=""/>
        <dsp:cNvSpPr/>
      </dsp:nvSpPr>
      <dsp:spPr>
        <a:xfrm rot="44319">
          <a:off x="1077468" y="3373705"/>
          <a:ext cx="129952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1299521" y="339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888DB6-8F2E-4A98-AD4E-378166807538}">
      <dsp:nvSpPr>
        <dsp:cNvPr id="0" name=""/>
        <dsp:cNvSpPr/>
      </dsp:nvSpPr>
      <dsp:spPr>
        <a:xfrm rot="17634993">
          <a:off x="530538" y="2432841"/>
          <a:ext cx="750410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750410" y="33969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2B4D27-7C96-49B9-80C0-7C0B88C31432}">
      <dsp:nvSpPr>
        <dsp:cNvPr id="0" name=""/>
        <dsp:cNvSpPr/>
      </dsp:nvSpPr>
      <dsp:spPr>
        <a:xfrm>
          <a:off x="-292410" y="2577085"/>
          <a:ext cx="1662842" cy="166284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2A49D-2E19-4C89-BC43-4C5C5BF958A4}">
      <dsp:nvSpPr>
        <dsp:cNvPr id="0" name=""/>
        <dsp:cNvSpPr/>
      </dsp:nvSpPr>
      <dsp:spPr>
        <a:xfrm>
          <a:off x="549760" y="585216"/>
          <a:ext cx="1670160" cy="1602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Subject wise CGPA</a:t>
          </a:r>
        </a:p>
      </dsp:txBody>
      <dsp:txXfrm>
        <a:off x="794349" y="819910"/>
        <a:ext cx="1180982" cy="1133200"/>
      </dsp:txXfrm>
    </dsp:sp>
    <dsp:sp modelId="{8655A3EC-83AD-473F-B20D-6153CFAA7609}">
      <dsp:nvSpPr>
        <dsp:cNvPr id="0" name=""/>
        <dsp:cNvSpPr/>
      </dsp:nvSpPr>
      <dsp:spPr>
        <a:xfrm>
          <a:off x="2376822" y="2567773"/>
          <a:ext cx="2009221" cy="1722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semester wise CGPA</a:t>
          </a:r>
        </a:p>
      </dsp:txBody>
      <dsp:txXfrm>
        <a:off x="2671066" y="2820021"/>
        <a:ext cx="1420733" cy="1217961"/>
      </dsp:txXfrm>
    </dsp:sp>
    <dsp:sp modelId="{1F9674E6-F67E-4E57-AF0B-48997AA7254F}">
      <dsp:nvSpPr>
        <dsp:cNvPr id="0" name=""/>
        <dsp:cNvSpPr/>
      </dsp:nvSpPr>
      <dsp:spPr>
        <a:xfrm>
          <a:off x="696121" y="4925840"/>
          <a:ext cx="1572084" cy="17514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Grade &amp; credit wise CGPA</a:t>
          </a:r>
        </a:p>
      </dsp:txBody>
      <dsp:txXfrm>
        <a:off x="926347" y="5182328"/>
        <a:ext cx="1111632" cy="12384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free-vector/report-card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ectorstock.com/royalty-free-vector/business-performance-analysis-rgb-color-icon-vector-40926806" TargetMode="Externa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illustrations/scholarships-icon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www.picpedia.org/highway-signs/i/internship.html" TargetMode="Externa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876C8-3B98-4B92-914C-C23F91D0A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CGPA CALCULATOR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D3A69-0DB5-4046-950A-DB20861B0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585252"/>
            <a:ext cx="3200400" cy="20673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Subject: PPS </a:t>
            </a:r>
          </a:p>
          <a:p>
            <a:r>
              <a:rPr lang="en-US" dirty="0"/>
              <a:t>PROJECT BASED LEARNING</a:t>
            </a:r>
          </a:p>
          <a:p>
            <a:r>
              <a:rPr lang="en-US" dirty="0"/>
              <a:t>By </a:t>
            </a:r>
            <a:r>
              <a:rPr lang="en-US" dirty="0" err="1"/>
              <a:t>Sarvesh</a:t>
            </a:r>
            <a:r>
              <a:rPr lang="en-US" dirty="0"/>
              <a:t> </a:t>
            </a:r>
            <a:r>
              <a:rPr lang="en-US" dirty="0" err="1"/>
              <a:t>Kasar</a:t>
            </a:r>
            <a:endParaRPr lang="en-US" dirty="0"/>
          </a:p>
          <a:p>
            <a:r>
              <a:rPr lang="en-US" dirty="0"/>
              <a:t>     </a:t>
            </a:r>
            <a:r>
              <a:rPr lang="en-US" dirty="0" err="1"/>
              <a:t>Krish</a:t>
            </a:r>
            <a:r>
              <a:rPr lang="en-US" dirty="0"/>
              <a:t> Chand</a:t>
            </a:r>
          </a:p>
          <a:p>
            <a:r>
              <a:rPr lang="en-US" dirty="0"/>
              <a:t>     </a:t>
            </a:r>
            <a:r>
              <a:rPr lang="en-US" dirty="0" err="1"/>
              <a:t>Ayush</a:t>
            </a:r>
            <a:r>
              <a:rPr lang="en-US" dirty="0"/>
              <a:t> Mule	</a:t>
            </a:r>
          </a:p>
          <a:p>
            <a:r>
              <a:rPr lang="en-US" dirty="0"/>
              <a:t>     Arav Desai					</a:t>
            </a:r>
          </a:p>
        </p:txBody>
      </p:sp>
    </p:spTree>
    <p:extLst>
      <p:ext uri="{BB962C8B-B14F-4D97-AF65-F5344CB8AC3E}">
        <p14:creationId xmlns:p14="http://schemas.microsoft.com/office/powerpoint/2010/main" val="181657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5109-7101-4823-AC73-F2366E108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610049" cy="5815584"/>
          </a:xfrm>
        </p:spPr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We have made a CGPA Calculator.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The CGPA Calculator  can calculate in three different ways as per choice and convenience 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4A7CCF-633F-4B88-A3D9-3BFF471A9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144282"/>
              </p:ext>
            </p:extLst>
          </p:nvPr>
        </p:nvGraphicFramePr>
        <p:xfrm>
          <a:off x="7786436" y="0"/>
          <a:ext cx="4405564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836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79CE-04A5-472E-8D0B-21CFD43D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140002" cy="1499616"/>
          </a:xfrm>
        </p:spPr>
        <p:txBody>
          <a:bodyPr/>
          <a:lstStyle/>
          <a:p>
            <a:r>
              <a:rPr lang="en-US" dirty="0"/>
              <a:t>explanation and code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655FA-A4E7-43B3-A77A-D1880C4BC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63" y="2286000"/>
            <a:ext cx="6140002" cy="4023360"/>
          </a:xfrm>
        </p:spPr>
        <p:txBody>
          <a:bodyPr/>
          <a:lstStyle/>
          <a:p>
            <a:r>
              <a:rPr lang="en-US" sz="3200" dirty="0"/>
              <a:t>Once You enter choice 1</a:t>
            </a:r>
            <a:r>
              <a:rPr lang="en-US" sz="3200" baseline="30000" dirty="0"/>
              <a:t>st</a:t>
            </a:r>
            <a:r>
              <a:rPr lang="en-US" sz="3200" dirty="0"/>
              <a:t> it will ask your each subject’s GPA until you enter 0 .</a:t>
            </a:r>
            <a:br>
              <a:rPr lang="en-US" sz="3200" dirty="0"/>
            </a:br>
            <a:r>
              <a:rPr lang="en-US" sz="3200" dirty="0"/>
              <a:t>Result will be Your CGPA along with the total subjects for which you entered</a:t>
            </a:r>
            <a:r>
              <a:rPr lang="en-US" sz="2400" dirty="0"/>
              <a:t>.</a:t>
            </a:r>
          </a:p>
          <a:p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21680-4951-4793-BF7B-9796CDFB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065" y="542686"/>
            <a:ext cx="5495703" cy="602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1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7E61-7A60-4A05-8170-94BE0645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071872" cy="1499616"/>
          </a:xfrm>
        </p:spPr>
        <p:txBody>
          <a:bodyPr/>
          <a:lstStyle/>
          <a:p>
            <a:r>
              <a:rPr lang="en-US" dirty="0"/>
              <a:t>Explanation and code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417B-31F2-466B-8E9A-E7AF2DBD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/>
          <a:lstStyle/>
          <a:p>
            <a:r>
              <a:rPr lang="en-US" sz="3200" dirty="0"/>
              <a:t>If you entered 2</a:t>
            </a:r>
            <a:r>
              <a:rPr lang="en-US" sz="3200" baseline="30000" dirty="0"/>
              <a:t>nd</a:t>
            </a:r>
            <a:r>
              <a:rPr lang="en-US" sz="3200" dirty="0"/>
              <a:t> choice it will ask your each subject’s GPA until you enter 0 .</a:t>
            </a:r>
            <a:br>
              <a:rPr lang="en-US" sz="3200" dirty="0"/>
            </a:br>
            <a:r>
              <a:rPr lang="en-US" sz="3200" dirty="0"/>
              <a:t>Result will be Your CGPA along with the total subjects for which you enter.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AE117-0C48-48E2-B284-6F8C9AA06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35" y="505472"/>
            <a:ext cx="5536018" cy="612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9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C1E1-3A56-46A6-BC07-E1400894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071872" cy="1499616"/>
          </a:xfrm>
        </p:spPr>
        <p:txBody>
          <a:bodyPr/>
          <a:lstStyle/>
          <a:p>
            <a:r>
              <a:rPr lang="en-US" dirty="0"/>
              <a:t>Explanation and code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044B-4962-4A44-A559-660D14E6F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/>
          <a:lstStyle/>
          <a:p>
            <a:r>
              <a:rPr lang="en-US" sz="3200" dirty="0"/>
              <a:t>If you entered 3</a:t>
            </a:r>
            <a:r>
              <a:rPr lang="en-US" sz="3200" baseline="30000" dirty="0"/>
              <a:t>rd</a:t>
            </a:r>
            <a:r>
              <a:rPr lang="en-US" sz="3200" dirty="0"/>
              <a:t> choice it will ask both your numerical grade and your credit to calculate your CGPA and will also display your total credit score.</a:t>
            </a:r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0987F-6B9C-4EB6-A305-C0453D637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740" y="585215"/>
            <a:ext cx="5604761" cy="594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73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2823-E0D9-4442-9047-97A8FD1B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40" y="233916"/>
            <a:ext cx="2697267" cy="1499616"/>
          </a:xfrm>
        </p:spPr>
        <p:txBody>
          <a:bodyPr/>
          <a:lstStyle/>
          <a:p>
            <a:r>
              <a:rPr lang="en-US" dirty="0"/>
              <a:t>Algorithm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EE5C-3EB0-4C71-AFA9-F3D91A0BD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949" y="276447"/>
            <a:ext cx="8627781" cy="6315739"/>
          </a:xfrm>
        </p:spPr>
        <p:txBody>
          <a:bodyPr>
            <a:normAutofit fontScale="92500"/>
          </a:bodyPr>
          <a:lstStyle/>
          <a:p>
            <a:r>
              <a:rPr lang="en-US" dirty="0"/>
              <a:t>1 .Start</a:t>
            </a:r>
          </a:p>
          <a:p>
            <a:r>
              <a:rPr lang="en-US" dirty="0"/>
              <a:t>2. Declare </a:t>
            </a:r>
            <a:r>
              <a:rPr lang="en-US" dirty="0" err="1"/>
              <a:t>Variables:double</a:t>
            </a:r>
            <a:r>
              <a:rPr lang="en-US" dirty="0"/>
              <a:t> </a:t>
            </a:r>
            <a:r>
              <a:rPr lang="en-US" dirty="0" err="1"/>
              <a:t>gpa</a:t>
            </a:r>
            <a:r>
              <a:rPr lang="en-US" dirty="0"/>
              <a:t>, credit, </a:t>
            </a:r>
            <a:r>
              <a:rPr lang="en-US" dirty="0" err="1"/>
              <a:t>cgpa</a:t>
            </a:r>
            <a:r>
              <a:rPr lang="en-US" dirty="0"/>
              <a:t> = 0, </a:t>
            </a:r>
            <a:r>
              <a:rPr lang="en-US" dirty="0" err="1"/>
              <a:t>s_cgpa</a:t>
            </a:r>
            <a:r>
              <a:rPr lang="en-US" dirty="0"/>
              <a:t>, </a:t>
            </a:r>
            <a:r>
              <a:rPr lang="en-US" dirty="0" err="1"/>
              <a:t>s_credit</a:t>
            </a:r>
            <a:r>
              <a:rPr lang="en-US" dirty="0"/>
              <a:t> = 0, int choice</a:t>
            </a:r>
          </a:p>
          <a:p>
            <a:r>
              <a:rPr lang="en-US" dirty="0"/>
              <a:t>3. Display CGPA Calculator Header</a:t>
            </a:r>
          </a:p>
          <a:p>
            <a:r>
              <a:rPr lang="en-US" dirty="0"/>
              <a:t>4. Display Menu Options: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 Subject wise CGPA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 Semester wise CGPA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 Grade &amp; credit wise CGPA</a:t>
            </a:r>
          </a:p>
          <a:p>
            <a:r>
              <a:rPr lang="en-US" dirty="0"/>
              <a:t>5. Prompt User to Enter Choice </a:t>
            </a:r>
            <a:r>
              <a:rPr lang="en-US" dirty="0" err="1"/>
              <a:t>scanf</a:t>
            </a:r>
            <a:r>
              <a:rPr lang="en-US" dirty="0"/>
              <a:t>("%d", &amp;choice)</a:t>
            </a:r>
          </a:p>
          <a:p>
            <a:r>
              <a:rPr lang="en-US" dirty="0"/>
              <a:t>6. Loop Until User Exits:</a:t>
            </a:r>
          </a:p>
          <a:p>
            <a:r>
              <a:rPr lang="en-US" dirty="0"/>
              <a:t>7. While True:</a:t>
            </a:r>
          </a:p>
          <a:p>
            <a:pPr marL="128016" lvl="1" indent="0">
              <a:buNone/>
            </a:pPr>
            <a:r>
              <a:rPr lang="en-US" dirty="0"/>
              <a:t>	If choice is 3 (Grade &amp; Credit Wise CGPA):</a:t>
            </a:r>
          </a:p>
          <a:p>
            <a:pPr marL="128016" lvl="1" indent="0">
              <a:buNone/>
            </a:pPr>
            <a:r>
              <a:rPr lang="en-US" dirty="0"/>
              <a:t>		Prompt user to enter </a:t>
            </a:r>
            <a:r>
              <a:rPr lang="en-US" dirty="0" err="1"/>
              <a:t>gpa</a:t>
            </a:r>
            <a:r>
              <a:rPr lang="en-US" dirty="0"/>
              <a:t> and credit (0 0 for Exit) </a:t>
            </a:r>
          </a:p>
          <a:p>
            <a:pPr marL="128016" lvl="1" indent="0">
              <a:buNone/>
            </a:pPr>
            <a:r>
              <a:rPr lang="en-US" dirty="0"/>
              <a:t>		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lf%lf</a:t>
            </a:r>
            <a:r>
              <a:rPr lang="en-US" dirty="0"/>
              <a:t>", &amp;</a:t>
            </a:r>
            <a:r>
              <a:rPr lang="en-US" dirty="0" err="1"/>
              <a:t>gpa</a:t>
            </a:r>
            <a:r>
              <a:rPr lang="en-US" dirty="0"/>
              <a:t>, &amp;credit)</a:t>
            </a:r>
          </a:p>
          <a:p>
            <a:pPr marL="128016" lvl="1" indent="0">
              <a:buNone/>
            </a:pPr>
            <a:r>
              <a:rPr lang="en-US" dirty="0"/>
              <a:t>	If </a:t>
            </a:r>
            <a:r>
              <a:rPr lang="en-US" dirty="0" err="1"/>
              <a:t>gpa</a:t>
            </a:r>
            <a:r>
              <a:rPr lang="en-US" dirty="0"/>
              <a:t> and credit are both 0:</a:t>
            </a:r>
          </a:p>
          <a:p>
            <a:pPr marL="128016" lvl="1" indent="0">
              <a:buNone/>
            </a:pPr>
            <a:r>
              <a:rPr lang="en-US" dirty="0"/>
              <a:t>		Break loop</a:t>
            </a:r>
          </a:p>
          <a:p>
            <a:pPr marL="128016" lvl="1" indent="0">
              <a:buNone/>
            </a:pPr>
            <a:r>
              <a:rPr lang="en-US" dirty="0"/>
              <a:t>	Update </a:t>
            </a:r>
            <a:r>
              <a:rPr lang="en-US" dirty="0" err="1"/>
              <a:t>cgpa</a:t>
            </a:r>
            <a:r>
              <a:rPr lang="en-US" dirty="0"/>
              <a:t> by adding (</a:t>
            </a:r>
            <a:r>
              <a:rPr lang="en-US" dirty="0" err="1"/>
              <a:t>gpa</a:t>
            </a:r>
            <a:r>
              <a:rPr lang="en-US" dirty="0"/>
              <a:t> * credit)</a:t>
            </a:r>
          </a:p>
          <a:p>
            <a:pPr marL="128016" lvl="1" indent="0">
              <a:buNone/>
            </a:pPr>
            <a:r>
              <a:rPr lang="en-US" dirty="0"/>
              <a:t>	Update </a:t>
            </a:r>
            <a:r>
              <a:rPr lang="en-US" dirty="0" err="1"/>
              <a:t>s_credit</a:t>
            </a:r>
            <a:r>
              <a:rPr lang="en-US" dirty="0"/>
              <a:t> by adding credit</a:t>
            </a:r>
          </a:p>
          <a:p>
            <a:pPr marL="128016" lvl="1" indent="0">
              <a:buNone/>
            </a:pPr>
            <a:r>
              <a:rPr lang="en-US" dirty="0"/>
              <a:t>	Calculate </a:t>
            </a:r>
            <a:r>
              <a:rPr lang="en-US" dirty="0" err="1"/>
              <a:t>s_cgpa</a:t>
            </a:r>
            <a:r>
              <a:rPr lang="en-US" dirty="0"/>
              <a:t> = </a:t>
            </a:r>
            <a:r>
              <a:rPr lang="en-US" dirty="0" err="1"/>
              <a:t>cgpa</a:t>
            </a:r>
            <a:r>
              <a:rPr lang="en-US" dirty="0"/>
              <a:t> / </a:t>
            </a:r>
            <a:r>
              <a:rPr lang="en-US" dirty="0" err="1"/>
              <a:t>s_credit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0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8060-204B-490F-BC80-39D39072B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7055" cy="1499616"/>
          </a:xfrm>
        </p:spPr>
        <p:txBody>
          <a:bodyPr/>
          <a:lstStyle/>
          <a:p>
            <a:r>
              <a:rPr lang="en-US" dirty="0"/>
              <a:t>Algorithm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5668F-F4EC-4A36-86E9-382484956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148" y="278296"/>
            <a:ext cx="6795053" cy="6268278"/>
          </a:xfrm>
        </p:spPr>
        <p:txBody>
          <a:bodyPr>
            <a:normAutofit/>
          </a:bodyPr>
          <a:lstStyle/>
          <a:p>
            <a:pPr marL="128016" lvl="1" indent="0">
              <a:buNone/>
            </a:pPr>
            <a:r>
              <a:rPr lang="en-US" dirty="0"/>
              <a:t>8. Else if choice is 2 (Semester Wise CGPA) or 1 (Subject Wise CGPA):</a:t>
            </a:r>
          </a:p>
          <a:p>
            <a:pPr marL="128016" lvl="1" indent="0">
              <a:buNone/>
            </a:pPr>
            <a:r>
              <a:rPr lang="en-US" dirty="0"/>
              <a:t>	 If choice is 2:</a:t>
            </a:r>
          </a:p>
          <a:p>
            <a:pPr marL="128016" lvl="1" indent="0">
              <a:buNone/>
            </a:pPr>
            <a:r>
              <a:rPr lang="en-US" dirty="0"/>
              <a:t>		 Prompt user to enter Semester's GPA (0 for Exit)</a:t>
            </a:r>
          </a:p>
          <a:p>
            <a:pPr marL="128016" lvl="1" indent="0">
              <a:buNone/>
            </a:pPr>
            <a:r>
              <a:rPr lang="en-US" dirty="0"/>
              <a:t>	 If choice is 1:</a:t>
            </a:r>
          </a:p>
          <a:p>
            <a:pPr marL="128016" lvl="1" indent="0">
              <a:buNone/>
            </a:pPr>
            <a:r>
              <a:rPr lang="en-US" dirty="0"/>
              <a:t>		 Prompt user to enter </a:t>
            </a:r>
          </a:p>
          <a:p>
            <a:pPr marL="128016" lvl="1" indent="0">
              <a:buNone/>
            </a:pPr>
            <a:r>
              <a:rPr lang="en-US" dirty="0"/>
              <a:t>9. Subject's GPA (0 for Exit)</a:t>
            </a:r>
          </a:p>
          <a:p>
            <a:pPr marL="128016" lvl="1" indent="0">
              <a:buNone/>
            </a:pPr>
            <a:r>
              <a:rPr lang="en-US" dirty="0"/>
              <a:t>	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lf</a:t>
            </a:r>
            <a:r>
              <a:rPr lang="en-US" dirty="0"/>
              <a:t>", &amp;</a:t>
            </a:r>
            <a:r>
              <a:rPr lang="en-US" dirty="0" err="1"/>
              <a:t>gpa</a:t>
            </a:r>
            <a:r>
              <a:rPr lang="en-US" dirty="0"/>
              <a:t>)</a:t>
            </a:r>
          </a:p>
          <a:p>
            <a:pPr marL="128016" lvl="1" indent="0">
              <a:buNone/>
            </a:pPr>
            <a:r>
              <a:rPr lang="en-US" dirty="0"/>
              <a:t>10. If </a:t>
            </a:r>
            <a:r>
              <a:rPr lang="en-US" dirty="0" err="1"/>
              <a:t>gpa</a:t>
            </a:r>
            <a:r>
              <a:rPr lang="en-US" dirty="0"/>
              <a:t> is 0:</a:t>
            </a:r>
          </a:p>
          <a:p>
            <a:pPr marL="128016" lvl="1" indent="0">
              <a:buNone/>
            </a:pPr>
            <a:r>
              <a:rPr lang="en-US" dirty="0"/>
              <a:t>	Break loop</a:t>
            </a:r>
          </a:p>
          <a:p>
            <a:pPr marL="128016" lvl="1" indent="0">
              <a:buNone/>
            </a:pPr>
            <a:r>
              <a:rPr lang="en-US" dirty="0"/>
              <a:t>11. Update </a:t>
            </a:r>
            <a:r>
              <a:rPr lang="en-US" dirty="0" err="1"/>
              <a:t>cgpa</a:t>
            </a:r>
            <a:r>
              <a:rPr lang="en-US" dirty="0"/>
              <a:t> by adding </a:t>
            </a:r>
            <a:r>
              <a:rPr lang="en-US" dirty="0" err="1"/>
              <a:t>gpaIncrement</a:t>
            </a:r>
            <a:r>
              <a:rPr lang="en-US" dirty="0"/>
              <a:t> </a:t>
            </a:r>
            <a:r>
              <a:rPr lang="en-US" dirty="0" err="1"/>
              <a:t>s_credit</a:t>
            </a:r>
            <a:r>
              <a:rPr lang="en-US" dirty="0"/>
              <a:t> by 1</a:t>
            </a:r>
          </a:p>
          <a:p>
            <a:pPr marL="128016" lvl="1" indent="0">
              <a:buNone/>
            </a:pPr>
            <a:r>
              <a:rPr lang="en-US" dirty="0"/>
              <a:t>12. Calculate </a:t>
            </a:r>
            <a:r>
              <a:rPr lang="en-US" dirty="0" err="1"/>
              <a:t>s_cgpa</a:t>
            </a:r>
            <a:r>
              <a:rPr lang="en-US" dirty="0"/>
              <a:t> = </a:t>
            </a:r>
            <a:r>
              <a:rPr lang="en-US" dirty="0" err="1"/>
              <a:t>cgpa</a:t>
            </a:r>
            <a:r>
              <a:rPr lang="en-US" dirty="0"/>
              <a:t> / </a:t>
            </a:r>
            <a:r>
              <a:rPr lang="en-US" dirty="0" err="1"/>
              <a:t>s_credit</a:t>
            </a:r>
            <a:endParaRPr lang="en-US" dirty="0"/>
          </a:p>
          <a:p>
            <a:pPr marL="128016" lvl="1" indent="0">
              <a:buNone/>
            </a:pPr>
            <a:r>
              <a:rPr lang="en-US" dirty="0"/>
              <a:t>13. </a:t>
            </a:r>
            <a:r>
              <a:rPr lang="en-US" dirty="0" err="1"/>
              <a:t>Else:Break</a:t>
            </a:r>
            <a:r>
              <a:rPr lang="en-US" dirty="0"/>
              <a:t> loop</a:t>
            </a:r>
          </a:p>
          <a:p>
            <a:pPr marL="128016" lvl="1" indent="0">
              <a:buNone/>
            </a:pPr>
            <a:r>
              <a:rPr lang="en-US" dirty="0"/>
              <a:t>	 Display Final CGPA:</a:t>
            </a:r>
          </a:p>
          <a:p>
            <a:pPr marL="128016" lvl="1" indent="0">
              <a:buNone/>
            </a:pPr>
            <a:r>
              <a:rPr lang="en-US" dirty="0"/>
              <a:t>14. If choice is 3:</a:t>
            </a:r>
          </a:p>
          <a:p>
            <a:pPr marL="128016" lvl="1" indent="0">
              <a:buNone/>
            </a:pPr>
            <a:r>
              <a:rPr lang="en-US" dirty="0"/>
              <a:t>	 Display Your CGPA is: </a:t>
            </a:r>
            <a:r>
              <a:rPr lang="en-US" dirty="0" err="1"/>
              <a:t>s_cgpa</a:t>
            </a:r>
            <a:r>
              <a:rPr lang="en-US" dirty="0"/>
              <a:t> and total credit: </a:t>
            </a:r>
            <a:r>
              <a:rPr lang="en-US" dirty="0" err="1"/>
              <a:t>s_credit</a:t>
            </a:r>
            <a:endParaRPr lang="en-US" dirty="0"/>
          </a:p>
          <a:p>
            <a:pPr marL="128016" lvl="1" indent="0">
              <a:buNone/>
            </a:pPr>
            <a:r>
              <a:rPr lang="en-US" dirty="0"/>
              <a:t>15. Else if choice is 2 or 1:</a:t>
            </a:r>
          </a:p>
          <a:p>
            <a:pPr marL="128016" lvl="1" indent="0">
              <a:buNone/>
            </a:pPr>
            <a:r>
              <a:rPr lang="en-US" dirty="0"/>
              <a:t>	 Display Your CGPA is: </a:t>
            </a:r>
            <a:r>
              <a:rPr lang="en-US" dirty="0" err="1"/>
              <a:t>s_cgpa</a:t>
            </a:r>
            <a:r>
              <a:rPr lang="en-US" dirty="0"/>
              <a:t> and total subject: </a:t>
            </a:r>
            <a:r>
              <a:rPr lang="en-US" dirty="0" err="1"/>
              <a:t>s_credit</a:t>
            </a:r>
            <a:endParaRPr lang="en-US" dirty="0"/>
          </a:p>
          <a:p>
            <a:pPr marL="128016" lvl="1" indent="0">
              <a:buNone/>
            </a:pPr>
            <a:r>
              <a:rPr lang="en-US" dirty="0"/>
              <a:t>16. Else: Display Invalid choice</a:t>
            </a:r>
          </a:p>
          <a:p>
            <a:pPr marL="128016" lvl="1" indent="0">
              <a:buNone/>
            </a:pPr>
            <a:r>
              <a:rPr lang="en-US" dirty="0"/>
              <a:t>17. 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37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36C0-7390-40D3-A8BC-D90B19EF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2307" y="-117149"/>
            <a:ext cx="9720072" cy="779758"/>
          </a:xfrm>
        </p:spPr>
        <p:txBody>
          <a:bodyPr/>
          <a:lstStyle/>
          <a:p>
            <a:r>
              <a:rPr lang="en-US" dirty="0"/>
              <a:t>flowchart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250E61-AD4A-427B-9A2F-DC2DCD6EC41B}"/>
              </a:ext>
            </a:extLst>
          </p:cNvPr>
          <p:cNvSpPr/>
          <p:nvPr/>
        </p:nvSpPr>
        <p:spPr>
          <a:xfrm>
            <a:off x="1219201" y="555463"/>
            <a:ext cx="2054087" cy="19420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Declare Variables</a:t>
            </a:r>
          </a:p>
          <a:p>
            <a:pPr algn="ctr"/>
            <a:r>
              <a:rPr lang="en-US" dirty="0" err="1"/>
              <a:t>gpa</a:t>
            </a:r>
            <a:r>
              <a:rPr lang="en-US" dirty="0"/>
              <a:t>, credit, </a:t>
            </a:r>
            <a:r>
              <a:rPr lang="en-US" dirty="0" err="1"/>
              <a:t>cgpa</a:t>
            </a:r>
            <a:r>
              <a:rPr lang="en-US" dirty="0"/>
              <a:t> = 0, </a:t>
            </a:r>
            <a:r>
              <a:rPr lang="en-US" dirty="0" err="1"/>
              <a:t>s_cgpa</a:t>
            </a:r>
            <a:r>
              <a:rPr lang="en-US" dirty="0"/>
              <a:t>, </a:t>
            </a:r>
            <a:r>
              <a:rPr lang="en-US" dirty="0" err="1"/>
              <a:t>s_credit</a:t>
            </a:r>
            <a:r>
              <a:rPr lang="en-US" dirty="0"/>
              <a:t> = 0</a:t>
            </a:r>
          </a:p>
          <a:p>
            <a:pPr algn="ctr"/>
            <a:r>
              <a:rPr lang="en-US" dirty="0"/>
              <a:t>choice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58499F-3812-4ABF-9C61-6EBC06303E51}"/>
              </a:ext>
            </a:extLst>
          </p:cNvPr>
          <p:cNvSpPr/>
          <p:nvPr/>
        </p:nvSpPr>
        <p:spPr>
          <a:xfrm>
            <a:off x="3435627" y="1029509"/>
            <a:ext cx="1749287" cy="9939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 "CGPA CALCULATOR" Header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60DC05-5912-4D7E-B36B-C37BD0120905}"/>
              </a:ext>
            </a:extLst>
          </p:cNvPr>
          <p:cNvSpPr/>
          <p:nvPr/>
        </p:nvSpPr>
        <p:spPr>
          <a:xfrm>
            <a:off x="5347253" y="999834"/>
            <a:ext cx="3034748" cy="1343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Print Menu Options</a:t>
            </a:r>
            <a:endParaRPr lang="en-US" dirty="0"/>
          </a:p>
          <a:p>
            <a:pPr lvl="1"/>
            <a:r>
              <a:rPr lang="en-US" dirty="0"/>
              <a:t>Subject wise CGPA</a:t>
            </a:r>
          </a:p>
          <a:p>
            <a:pPr lvl="1"/>
            <a:r>
              <a:rPr lang="en-US" dirty="0"/>
              <a:t>Semester wise CGPA</a:t>
            </a:r>
          </a:p>
          <a:p>
            <a:pPr lvl="1"/>
            <a:r>
              <a:rPr lang="en-US" dirty="0"/>
              <a:t>Grade &amp; credit wise CGPA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F7A872-452C-4F14-8C16-FD618910ADB2}"/>
              </a:ext>
            </a:extLst>
          </p:cNvPr>
          <p:cNvSpPr/>
          <p:nvPr/>
        </p:nvSpPr>
        <p:spPr>
          <a:xfrm>
            <a:off x="8544340" y="1297587"/>
            <a:ext cx="1126435" cy="5785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choice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56FA7C-F624-4A4D-92EB-0F330773A07A}"/>
              </a:ext>
            </a:extLst>
          </p:cNvPr>
          <p:cNvSpPr/>
          <p:nvPr/>
        </p:nvSpPr>
        <p:spPr>
          <a:xfrm>
            <a:off x="291746" y="2680814"/>
            <a:ext cx="9210063" cy="28795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Loop (True)</a:t>
            </a:r>
          </a:p>
          <a:p>
            <a:pPr algn="ctr"/>
            <a:r>
              <a:rPr lang="en-US" dirty="0"/>
              <a:t>If choice == 3: Input </a:t>
            </a:r>
            <a:r>
              <a:rPr lang="en-US" dirty="0" err="1"/>
              <a:t>gpa</a:t>
            </a:r>
            <a:r>
              <a:rPr lang="en-US" dirty="0"/>
              <a:t> and credit </a:t>
            </a:r>
          </a:p>
          <a:p>
            <a:pPr algn="ctr"/>
            <a:r>
              <a:rPr lang="en-US" dirty="0"/>
              <a:t>If </a:t>
            </a:r>
            <a:r>
              <a:rPr lang="en-US" dirty="0" err="1"/>
              <a:t>gpa</a:t>
            </a:r>
            <a:r>
              <a:rPr lang="en-US" dirty="0"/>
              <a:t> == 0 and credit == 0: Break loop</a:t>
            </a:r>
          </a:p>
          <a:p>
            <a:pPr algn="ctr"/>
            <a:r>
              <a:rPr lang="en-US" dirty="0"/>
              <a:t>Update </a:t>
            </a:r>
            <a:r>
              <a:rPr lang="en-US" dirty="0" err="1"/>
              <a:t>cgpa</a:t>
            </a:r>
            <a:r>
              <a:rPr lang="en-US" dirty="0"/>
              <a:t> += </a:t>
            </a:r>
            <a:r>
              <a:rPr lang="en-US" dirty="0" err="1"/>
              <a:t>gpa</a:t>
            </a:r>
            <a:r>
              <a:rPr lang="en-US" dirty="0"/>
              <a:t> * credit</a:t>
            </a:r>
          </a:p>
          <a:p>
            <a:pPr algn="ctr"/>
            <a:r>
              <a:rPr lang="en-US" dirty="0"/>
              <a:t>Update </a:t>
            </a:r>
            <a:r>
              <a:rPr lang="en-US" dirty="0" err="1"/>
              <a:t>s_credit</a:t>
            </a:r>
            <a:r>
              <a:rPr lang="en-US" dirty="0"/>
              <a:t> += credit</a:t>
            </a:r>
          </a:p>
          <a:p>
            <a:pPr algn="ctr"/>
            <a:r>
              <a:rPr lang="en-US" dirty="0"/>
              <a:t>Calculate </a:t>
            </a:r>
            <a:r>
              <a:rPr lang="en-US" dirty="0" err="1"/>
              <a:t>s_cgpa</a:t>
            </a:r>
            <a:r>
              <a:rPr lang="en-US" dirty="0"/>
              <a:t> = </a:t>
            </a:r>
            <a:r>
              <a:rPr lang="en-US" dirty="0" err="1"/>
              <a:t>cgpa</a:t>
            </a:r>
            <a:r>
              <a:rPr lang="en-US" dirty="0"/>
              <a:t> / </a:t>
            </a:r>
            <a:r>
              <a:rPr lang="en-US" dirty="0" err="1"/>
              <a:t>s_credit</a:t>
            </a:r>
            <a:endParaRPr lang="en-US" dirty="0"/>
          </a:p>
          <a:p>
            <a:pPr algn="ctr"/>
            <a:r>
              <a:rPr lang="en-US" dirty="0"/>
              <a:t>Else If choice == 2 or choice == 1</a:t>
            </a:r>
          </a:p>
          <a:p>
            <a:pPr algn="ctr"/>
            <a:r>
              <a:rPr lang="en-US" dirty="0"/>
              <a:t>If choice == 2: Print "Enter your Semester's GPA (0 for Exit)“</a:t>
            </a:r>
          </a:p>
          <a:p>
            <a:pPr algn="ctr"/>
            <a:r>
              <a:rPr lang="en-US" dirty="0"/>
              <a:t>If choice == 1: Print "Enter your Subject's GPA (0 for Exit)“ Input </a:t>
            </a:r>
            <a:r>
              <a:rPr lang="en-US" dirty="0" err="1"/>
              <a:t>gpaIf</a:t>
            </a:r>
            <a:r>
              <a:rPr lang="en-US" dirty="0"/>
              <a:t> </a:t>
            </a:r>
            <a:r>
              <a:rPr lang="en-US" dirty="0" err="1"/>
              <a:t>gpa</a:t>
            </a:r>
            <a:r>
              <a:rPr lang="en-US" dirty="0"/>
              <a:t> == 0: Break loop </a:t>
            </a:r>
          </a:p>
          <a:p>
            <a:pPr algn="ctr"/>
            <a:r>
              <a:rPr lang="en-US" dirty="0"/>
              <a:t>Update </a:t>
            </a:r>
            <a:r>
              <a:rPr lang="en-US" dirty="0" err="1"/>
              <a:t>cgpa</a:t>
            </a:r>
            <a:r>
              <a:rPr lang="en-US" dirty="0"/>
              <a:t> += </a:t>
            </a:r>
            <a:r>
              <a:rPr lang="en-US" dirty="0" err="1"/>
              <a:t>gpaIncrement</a:t>
            </a:r>
            <a:r>
              <a:rPr lang="en-US" dirty="0"/>
              <a:t> </a:t>
            </a:r>
            <a:r>
              <a:rPr lang="en-US" dirty="0" err="1"/>
              <a:t>s_creditCalculate</a:t>
            </a:r>
            <a:r>
              <a:rPr lang="en-US" dirty="0"/>
              <a:t> </a:t>
            </a:r>
            <a:r>
              <a:rPr lang="en-US" dirty="0" err="1"/>
              <a:t>s_cgpa</a:t>
            </a:r>
            <a:r>
              <a:rPr lang="en-US" dirty="0"/>
              <a:t> = </a:t>
            </a:r>
            <a:r>
              <a:rPr lang="en-US" dirty="0" err="1"/>
              <a:t>cgpa</a:t>
            </a:r>
            <a:r>
              <a:rPr lang="en-US" dirty="0"/>
              <a:t> / </a:t>
            </a:r>
            <a:r>
              <a:rPr lang="en-US" dirty="0" err="1"/>
              <a:t>s_creditElse</a:t>
            </a:r>
            <a:r>
              <a:rPr lang="en-US" dirty="0"/>
              <a:t>: Break loop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19C351-91C0-4006-A163-C9E45236A228}"/>
              </a:ext>
            </a:extLst>
          </p:cNvPr>
          <p:cNvSpPr/>
          <p:nvPr/>
        </p:nvSpPr>
        <p:spPr>
          <a:xfrm>
            <a:off x="9875885" y="1628641"/>
            <a:ext cx="1894863" cy="16658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choice ==3 Print Your CGPA is: </a:t>
            </a:r>
            <a:r>
              <a:rPr lang="en-US" dirty="0" err="1"/>
              <a:t>s_cgpa</a:t>
            </a:r>
            <a:r>
              <a:rPr lang="en-US" dirty="0"/>
              <a:t> and total credit: </a:t>
            </a:r>
            <a:r>
              <a:rPr lang="en-US" dirty="0" err="1"/>
              <a:t>s_credit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42DAB3-36C3-4D11-A043-1B64985A8A8A}"/>
              </a:ext>
            </a:extLst>
          </p:cNvPr>
          <p:cNvSpPr/>
          <p:nvPr/>
        </p:nvSpPr>
        <p:spPr>
          <a:xfrm>
            <a:off x="9685384" y="3429000"/>
            <a:ext cx="2275863" cy="1551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 If choice == 2 or choice == 1 Print Your CGPA is: </a:t>
            </a:r>
            <a:r>
              <a:rPr lang="en-US" dirty="0" err="1"/>
              <a:t>s_cgpa</a:t>
            </a:r>
            <a:r>
              <a:rPr lang="en-US" dirty="0"/>
              <a:t> and total subject: </a:t>
            </a:r>
            <a:r>
              <a:rPr lang="en-US" dirty="0" err="1"/>
              <a:t>s_credit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2B4B3E-7893-4164-B6EF-AB521F9B1595}"/>
              </a:ext>
            </a:extLst>
          </p:cNvPr>
          <p:cNvSpPr/>
          <p:nvPr/>
        </p:nvSpPr>
        <p:spPr>
          <a:xfrm>
            <a:off x="9875885" y="5229359"/>
            <a:ext cx="1680011" cy="720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Else Print Invalid choice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2C4E5E-4B56-4B32-8602-893A11AE895F}"/>
              </a:ext>
            </a:extLst>
          </p:cNvPr>
          <p:cNvCxnSpPr>
            <a:cxnSpLocks/>
          </p:cNvCxnSpPr>
          <p:nvPr/>
        </p:nvCxnSpPr>
        <p:spPr>
          <a:xfrm flipV="1">
            <a:off x="1056862" y="1410651"/>
            <a:ext cx="1623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290FC5-6B62-472A-A02D-F9ECBAC214E8}"/>
              </a:ext>
            </a:extLst>
          </p:cNvPr>
          <p:cNvCxnSpPr>
            <a:stCxn id="7" idx="3"/>
            <a:endCxn id="7" idx="3"/>
          </p:cNvCxnSpPr>
          <p:nvPr/>
        </p:nvCxnSpPr>
        <p:spPr>
          <a:xfrm>
            <a:off x="5184914" y="152646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E592B3F-BFA6-41EF-8E00-8A3BD02DAEA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273288" y="1526466"/>
            <a:ext cx="16233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DD070F-5D60-4242-90CE-0ABF89AA4851}"/>
              </a:ext>
            </a:extLst>
          </p:cNvPr>
          <p:cNvCxnSpPr>
            <a:stCxn id="7" idx="3"/>
          </p:cNvCxnSpPr>
          <p:nvPr/>
        </p:nvCxnSpPr>
        <p:spPr>
          <a:xfrm flipV="1">
            <a:off x="5184914" y="1526465"/>
            <a:ext cx="16233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F2A4C27-0ABC-4D88-8F82-DAE427543851}"/>
              </a:ext>
            </a:extLst>
          </p:cNvPr>
          <p:cNvCxnSpPr>
            <a:stCxn id="8" idx="3"/>
          </p:cNvCxnSpPr>
          <p:nvPr/>
        </p:nvCxnSpPr>
        <p:spPr>
          <a:xfrm>
            <a:off x="8382001" y="1671711"/>
            <a:ext cx="374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2D9B9F2-70E3-40BC-B6CE-C45F76E429FF}"/>
              </a:ext>
            </a:extLst>
          </p:cNvPr>
          <p:cNvCxnSpPr>
            <a:cxnSpLocks/>
          </p:cNvCxnSpPr>
          <p:nvPr/>
        </p:nvCxnSpPr>
        <p:spPr>
          <a:xfrm>
            <a:off x="8971722" y="1876136"/>
            <a:ext cx="0" cy="906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F21D4C-7867-45D3-9CE8-F581EE3CBE1F}"/>
              </a:ext>
            </a:extLst>
          </p:cNvPr>
          <p:cNvCxnSpPr/>
          <p:nvPr/>
        </p:nvCxnSpPr>
        <p:spPr>
          <a:xfrm>
            <a:off x="9409043" y="2968487"/>
            <a:ext cx="636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C5221F2-749D-458E-A787-859CF4690468}"/>
              </a:ext>
            </a:extLst>
          </p:cNvPr>
          <p:cNvCxnSpPr/>
          <p:nvPr/>
        </p:nvCxnSpPr>
        <p:spPr>
          <a:xfrm>
            <a:off x="11211339" y="3294540"/>
            <a:ext cx="0" cy="134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4D5A46A-3618-482F-9BF6-28D27AD4BA0F}"/>
              </a:ext>
            </a:extLst>
          </p:cNvPr>
          <p:cNvCxnSpPr>
            <a:stCxn id="20" idx="2"/>
          </p:cNvCxnSpPr>
          <p:nvPr/>
        </p:nvCxnSpPr>
        <p:spPr>
          <a:xfrm flipH="1">
            <a:off x="10823315" y="4980317"/>
            <a:ext cx="1" cy="3470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F979C89-65C8-4597-8114-738113C7BBA1}"/>
              </a:ext>
            </a:extLst>
          </p:cNvPr>
          <p:cNvCxnSpPr>
            <a:cxnSpLocks/>
          </p:cNvCxnSpPr>
          <p:nvPr/>
        </p:nvCxnSpPr>
        <p:spPr>
          <a:xfrm flipH="1">
            <a:off x="8971722" y="5777948"/>
            <a:ext cx="904163" cy="543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8C108529-B3EB-43C8-89CA-50B70E7CE5C5}"/>
              </a:ext>
            </a:extLst>
          </p:cNvPr>
          <p:cNvSpPr/>
          <p:nvPr/>
        </p:nvSpPr>
        <p:spPr>
          <a:xfrm>
            <a:off x="529244" y="127428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9B56471-403A-4B52-82F6-E6A0D498F2F5}"/>
              </a:ext>
            </a:extLst>
          </p:cNvPr>
          <p:cNvSpPr/>
          <p:nvPr/>
        </p:nvSpPr>
        <p:spPr>
          <a:xfrm>
            <a:off x="0" y="1029509"/>
            <a:ext cx="1056862" cy="6422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CDE4AA0-2761-4838-BC11-47E941E40B68}"/>
              </a:ext>
            </a:extLst>
          </p:cNvPr>
          <p:cNvSpPr/>
          <p:nvPr/>
        </p:nvSpPr>
        <p:spPr>
          <a:xfrm>
            <a:off x="7434471" y="5946663"/>
            <a:ext cx="1603513" cy="791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sp>
        <p:nvSpPr>
          <p:cNvPr id="59" name="AutoShape 13" descr="https://documents.lucid.app/documents/df906efb-376c-4375-b528-cd59bb47416f/pages/0eqBfotfVGlV?a=838&amp;x=1881&amp;y=1376&amp;w=95&amp;h=280&amp;store=1&amp;accept=image%2F*&amp;auth=LCA%209cd1ede958ce76088eb7308746a2b43c24adade509430ce3df740a415c31ce38-ts%3D1731237947">
            <a:extLst>
              <a:ext uri="{FF2B5EF4-FFF2-40B4-BE49-F238E27FC236}">
                <a16:creationId xmlns:a16="http://schemas.microsoft.com/office/drawing/2014/main" id="{A2500336-01AE-464B-90EC-4873777A9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863" y="2428875"/>
            <a:ext cx="67627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4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469674-03C7-4090-87C3-DA5A5F44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819514"/>
          </a:xfrm>
        </p:spPr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C6FD3-8214-41E2-A256-FE1A77E3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466486"/>
            <a:ext cx="9720073" cy="4023360"/>
          </a:xfrm>
        </p:spPr>
        <p:txBody>
          <a:bodyPr>
            <a:normAutofit/>
          </a:bodyPr>
          <a:lstStyle/>
          <a:p>
            <a:r>
              <a:rPr lang="en-US" sz="3600" dirty="0"/>
              <a:t>Academic Reporting		Performance Analysis</a:t>
            </a:r>
          </a:p>
          <a:p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EB610-10B8-420C-8187-11F013027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4128" y="2069656"/>
            <a:ext cx="3939274" cy="3880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20CD21-5651-49F3-9006-665E464E12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29174" y="2069655"/>
            <a:ext cx="3361145" cy="36685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E7D3C9-DDC6-4A6E-A6A4-6007E8F3E520}"/>
              </a:ext>
            </a:extLst>
          </p:cNvPr>
          <p:cNvSpPr/>
          <p:nvPr/>
        </p:nvSpPr>
        <p:spPr>
          <a:xfrm>
            <a:off x="7010400" y="5428091"/>
            <a:ext cx="3379304" cy="3101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93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E69C-6587-4CF6-8DC2-3802266C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552F5-A756-4DB7-811B-6E53A7000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Scholarships		Job Applications and Internships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DBD594-1350-4E97-B095-D9457A0C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4128" y="2974914"/>
            <a:ext cx="2909052" cy="2909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523422-7E29-4462-9A90-4A6DD0816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133749" y="2974914"/>
            <a:ext cx="5310059" cy="3535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F40B5D-75E4-4AB5-B3C2-5BD9DB9D2202}"/>
              </a:ext>
            </a:extLst>
          </p:cNvPr>
          <p:cNvSpPr txBox="1"/>
          <p:nvPr/>
        </p:nvSpPr>
        <p:spPr>
          <a:xfrm>
            <a:off x="5133750" y="9832914"/>
            <a:ext cx="5237527" cy="230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www.picpedia.org/highway-signs/i/internship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8293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EB1A-3890-4F7E-9886-F7E455C6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C6571-2816-4620-96E8-D7E4D49C4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conclusion, the CGPA calculator code effectively demonstrates how to handle user input, perform calculations, and provide meaningful output based on different scenarios. By offering options for subject-wise, semester-wise, and grade and credit-wise CGPA calculations, the code caters to various needs and preferences of students. The use of loops, conditionals, and arithmetic operations showcases fundamental programming concepts, while the clear and user-friendly interface ensures ease of use. This code serves as a practical tool for students and educators alike, aiding in the accurate assessment and tracking of academic performance. Through its applications, it highlights the importance of programming in solving real-world problems and enhancing educational experiences.</a:t>
            </a:r>
          </a:p>
        </p:txBody>
      </p:sp>
    </p:spTree>
    <p:extLst>
      <p:ext uri="{BB962C8B-B14F-4D97-AF65-F5344CB8AC3E}">
        <p14:creationId xmlns:p14="http://schemas.microsoft.com/office/powerpoint/2010/main" val="290180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E4ADD-8518-43BA-80B8-A4A17F37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BCC29F1-7354-4ED8-AB2B-CD2EA53A78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4276" b="14276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54B6C-27F8-4EE2-BFE0-8F6588ED4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Project by :-Arav Desai</a:t>
            </a:r>
          </a:p>
          <a:p>
            <a:r>
              <a:rPr lang="en-US" dirty="0"/>
              <a:t>	   </a:t>
            </a:r>
            <a:r>
              <a:rPr lang="en-US" dirty="0" err="1"/>
              <a:t>Sarvesh</a:t>
            </a:r>
            <a:r>
              <a:rPr lang="en-US" dirty="0"/>
              <a:t> </a:t>
            </a:r>
            <a:r>
              <a:rPr lang="en-US" dirty="0" err="1"/>
              <a:t>Kasar</a:t>
            </a:r>
            <a:endParaRPr lang="en-US" dirty="0"/>
          </a:p>
          <a:p>
            <a:r>
              <a:rPr lang="en-US" dirty="0"/>
              <a:t>	    </a:t>
            </a:r>
            <a:r>
              <a:rPr lang="en-US" dirty="0" err="1"/>
              <a:t>Ayush</a:t>
            </a:r>
            <a:r>
              <a:rPr lang="en-US" dirty="0"/>
              <a:t> Mule</a:t>
            </a:r>
          </a:p>
          <a:p>
            <a:r>
              <a:rPr lang="en-US" dirty="0"/>
              <a:t>	    </a:t>
            </a:r>
            <a:r>
              <a:rPr lang="en-US" dirty="0" err="1"/>
              <a:t>Krish</a:t>
            </a:r>
            <a:r>
              <a:rPr lang="en-US" dirty="0"/>
              <a:t> Chand</a:t>
            </a:r>
          </a:p>
        </p:txBody>
      </p:sp>
    </p:spTree>
    <p:extLst>
      <p:ext uri="{BB962C8B-B14F-4D97-AF65-F5344CB8AC3E}">
        <p14:creationId xmlns:p14="http://schemas.microsoft.com/office/powerpoint/2010/main" val="2646308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311</TotalTime>
  <Words>899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Tw Cen MT</vt:lpstr>
      <vt:lpstr>Tw Cen MT Condensed</vt:lpstr>
      <vt:lpstr>Wingdings 3</vt:lpstr>
      <vt:lpstr>Integral</vt:lpstr>
      <vt:lpstr>CGPA CALCULATOR  </vt:lpstr>
      <vt:lpstr>Introduction  We have made a CGPA Calculator.  The CGPA Calculator  can calculate in three different ways as per choice and convenience .   </vt:lpstr>
      <vt:lpstr>explanation and code output</vt:lpstr>
      <vt:lpstr>Explanation and code output</vt:lpstr>
      <vt:lpstr>Explanation and code output</vt:lpstr>
      <vt:lpstr>Algorithm part 1</vt:lpstr>
      <vt:lpstr>Algorithm part 2</vt:lpstr>
      <vt:lpstr>flowchart</vt:lpstr>
      <vt:lpstr>application</vt:lpstr>
      <vt:lpstr>applications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CGPA CALCULATOR</dc:title>
  <dc:creator>Arav</dc:creator>
  <cp:lastModifiedBy>Arav</cp:lastModifiedBy>
  <cp:revision>22</cp:revision>
  <dcterms:created xsi:type="dcterms:W3CDTF">2024-11-10T08:16:34Z</dcterms:created>
  <dcterms:modified xsi:type="dcterms:W3CDTF">2024-12-13T13:24:06Z</dcterms:modified>
</cp:coreProperties>
</file>